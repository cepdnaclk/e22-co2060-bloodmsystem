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64" r:id="rId8"/>
    <p:sldId id="265" r:id="rId9"/>
    <p:sldId id="266" r:id="rId10"/>
    <p:sldId id="261" r:id="rId11"/>
    <p:sldId id="262" r:id="rId12"/>
    <p:sldId id="263" r:id="rId13"/>
    <p:sldId id="267" r:id="rId14"/>
    <p:sldId id="268" r:id="rId15"/>
  </p:sldIdLst>
  <p:sldSz cx="18288000" cy="10287000"/>
  <p:notesSz cx="6858000" cy="9144000"/>
  <p:embeddedFontLst>
    <p:embeddedFont>
      <p:font typeface="Arimo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Genty Sans" panose="020B0604020202020204" charset="0"/>
      <p:regular r:id="rId21"/>
    </p:embeddedFont>
    <p:embeddedFont>
      <p:font typeface="Times New Roman MT" panose="020B0604020202020204" charset="0"/>
      <p:regular r:id="rId22"/>
    </p:embeddedFont>
    <p:embeddedFont>
      <p:font typeface="Times New Roman MT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svg"/><Relationship Id="rId7" Type="http://schemas.openxmlformats.org/officeDocument/2006/relationships/image" Target="../media/image1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6.png"/><Relationship Id="rId5" Type="http://schemas.openxmlformats.org/officeDocument/2006/relationships/image" Target="../media/image6.sv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image" Target="../media/image22.png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hyperlink" Target="https://github.com/cepdnaclk/e22_co2060_bloodmsystem/issues?q=is%3Aissue%20state%3Aclosed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7.png"/><Relationship Id="rId5" Type="http://schemas.openxmlformats.org/officeDocument/2006/relationships/image" Target="../media/image6.svg"/><Relationship Id="rId10" Type="http://schemas.openxmlformats.org/officeDocument/2006/relationships/hyperlink" Target="https://github.com/cepdnaclk/e22-co2060-bloodmsystem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39313" y="7928412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68073" y="-2246725"/>
            <a:ext cx="4060446" cy="4493451"/>
          </a:xfrm>
          <a:custGeom>
            <a:avLst/>
            <a:gdLst/>
            <a:ahLst/>
            <a:cxnLst/>
            <a:rect l="l" t="t" r="r" b="b"/>
            <a:pathLst>
              <a:path w="4060446" h="4493451">
                <a:moveTo>
                  <a:pt x="0" y="0"/>
                </a:moveTo>
                <a:lnTo>
                  <a:pt x="4060446" y="0"/>
                </a:lnTo>
                <a:lnTo>
                  <a:pt x="4060446" y="4493450"/>
                </a:lnTo>
                <a:lnTo>
                  <a:pt x="0" y="4493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-832649"/>
            <a:ext cx="4291962" cy="5976149"/>
          </a:xfrm>
          <a:custGeom>
            <a:avLst/>
            <a:gdLst/>
            <a:ahLst/>
            <a:cxnLst/>
            <a:rect l="l" t="t" r="r" b="b"/>
            <a:pathLst>
              <a:path w="4291962" h="5976149">
                <a:moveTo>
                  <a:pt x="0" y="0"/>
                </a:moveTo>
                <a:lnTo>
                  <a:pt x="4291962" y="0"/>
                </a:lnTo>
                <a:lnTo>
                  <a:pt x="4291962" y="5976149"/>
                </a:lnTo>
                <a:lnTo>
                  <a:pt x="0" y="59761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78236" y="6066620"/>
            <a:ext cx="4610990" cy="4610990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1" y="0"/>
                </a:lnTo>
                <a:lnTo>
                  <a:pt x="4610991" y="4610990"/>
                </a:lnTo>
                <a:lnTo>
                  <a:pt x="0" y="46109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03587" y="-832649"/>
            <a:ext cx="4511427" cy="5313244"/>
          </a:xfrm>
          <a:custGeom>
            <a:avLst/>
            <a:gdLst/>
            <a:ahLst/>
            <a:cxnLst/>
            <a:rect l="l" t="t" r="r" b="b"/>
            <a:pathLst>
              <a:path w="4511427" h="5313244">
                <a:moveTo>
                  <a:pt x="0" y="0"/>
                </a:moveTo>
                <a:lnTo>
                  <a:pt x="4511426" y="0"/>
                </a:lnTo>
                <a:lnTo>
                  <a:pt x="4511426" y="5313243"/>
                </a:lnTo>
                <a:lnTo>
                  <a:pt x="0" y="531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869669" y="8214941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05844" y="6761523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5"/>
                </a:lnTo>
                <a:lnTo>
                  <a:pt x="0" y="29539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179415" y="2849523"/>
            <a:ext cx="11482787" cy="196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50"/>
              </a:lnSpc>
            </a:pPr>
            <a:r>
              <a:rPr lang="en-US" sz="1500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HOPEDROP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58965" y="6992358"/>
            <a:ext cx="8523688" cy="93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869" b="1" spc="53">
                <a:solidFill>
                  <a:srgbClr val="1D684C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2YP - DevDynamos Team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9415" y="4751748"/>
            <a:ext cx="11482787" cy="190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5"/>
              </a:lnSpc>
            </a:pPr>
            <a:r>
              <a:rPr lang="en-US" sz="750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BLOOD BANK MANAGEMENT SYSTEM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892433" y="4589823"/>
            <a:ext cx="9922156" cy="0"/>
          </a:xfrm>
          <a:prstGeom prst="line">
            <a:avLst/>
          </a:prstGeom>
          <a:ln w="95250" cap="flat">
            <a:solidFill>
              <a:srgbClr val="1D684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4649" y="1873131"/>
            <a:ext cx="8534373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Project Background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72854" y="3186285"/>
            <a:ext cx="10256168" cy="324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blood wastage caused by manual tracking and inconsistent inventory control.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Critical delays during emergencies when stock and compatibility info are unavailable.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Fragmented management across multiple blood banks makes resource allocation difficult.</a:t>
            </a:r>
          </a:p>
        </p:txBody>
      </p:sp>
      <p:sp>
        <p:nvSpPr>
          <p:cNvPr id="4" name="Freeform 4"/>
          <p:cNvSpPr/>
          <p:nvPr/>
        </p:nvSpPr>
        <p:spPr>
          <a:xfrm rot="2435248">
            <a:off x="-2690628" y="6762587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617344">
            <a:off x="4170196" y="-1295248"/>
            <a:ext cx="3205315" cy="3547129"/>
          </a:xfrm>
          <a:custGeom>
            <a:avLst/>
            <a:gdLst/>
            <a:ahLst/>
            <a:cxnLst/>
            <a:rect l="l" t="t" r="r" b="b"/>
            <a:pathLst>
              <a:path w="3205315" h="3547129">
                <a:moveTo>
                  <a:pt x="0" y="0"/>
                </a:moveTo>
                <a:lnTo>
                  <a:pt x="3205315" y="0"/>
                </a:lnTo>
                <a:lnTo>
                  <a:pt x="3205315" y="3547129"/>
                </a:lnTo>
                <a:lnTo>
                  <a:pt x="0" y="3547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67197" y="5992211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1" y="0"/>
                </a:lnTo>
                <a:lnTo>
                  <a:pt x="2897441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20980" y="2566715"/>
            <a:ext cx="4610990" cy="4610990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0" y="0"/>
                </a:lnTo>
                <a:lnTo>
                  <a:pt x="4610990" y="4610990"/>
                </a:lnTo>
                <a:lnTo>
                  <a:pt x="0" y="46109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667197" y="-342973"/>
            <a:ext cx="2883222" cy="3395658"/>
          </a:xfrm>
          <a:custGeom>
            <a:avLst/>
            <a:gdLst/>
            <a:ahLst/>
            <a:cxnLst/>
            <a:rect l="l" t="t" r="r" b="b"/>
            <a:pathLst>
              <a:path w="2883222" h="3395658">
                <a:moveTo>
                  <a:pt x="0" y="0"/>
                </a:moveTo>
                <a:lnTo>
                  <a:pt x="2883222" y="0"/>
                </a:lnTo>
                <a:lnTo>
                  <a:pt x="2883222" y="3395658"/>
                </a:lnTo>
                <a:lnTo>
                  <a:pt x="0" y="33956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32875" y="8260743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26944" y="-1233194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5"/>
                </a:lnTo>
                <a:lnTo>
                  <a:pt x="0" y="29539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9206" y="3262263"/>
            <a:ext cx="6545941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Target Users</a:t>
            </a:r>
          </a:p>
        </p:txBody>
      </p:sp>
      <p:sp>
        <p:nvSpPr>
          <p:cNvPr id="3" name="Freeform 3"/>
          <p:cNvSpPr/>
          <p:nvPr/>
        </p:nvSpPr>
        <p:spPr>
          <a:xfrm rot="2435248">
            <a:off x="-2690628" y="6762587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02888">
            <a:off x="8896247" y="-418709"/>
            <a:ext cx="3205315" cy="3547129"/>
          </a:xfrm>
          <a:custGeom>
            <a:avLst/>
            <a:gdLst/>
            <a:ahLst/>
            <a:cxnLst/>
            <a:rect l="l" t="t" r="r" b="b"/>
            <a:pathLst>
              <a:path w="3205315" h="3547129">
                <a:moveTo>
                  <a:pt x="0" y="0"/>
                </a:moveTo>
                <a:lnTo>
                  <a:pt x="3205315" y="0"/>
                </a:lnTo>
                <a:lnTo>
                  <a:pt x="3205315" y="3547130"/>
                </a:lnTo>
                <a:lnTo>
                  <a:pt x="0" y="35471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78236" y="-154695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860706" y="6269457"/>
            <a:ext cx="4610990" cy="4610990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1" y="0"/>
                </a:lnTo>
                <a:lnTo>
                  <a:pt x="4610991" y="4610991"/>
                </a:lnTo>
                <a:lnTo>
                  <a:pt x="0" y="461099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99857" y="322245"/>
            <a:ext cx="4511427" cy="5313244"/>
          </a:xfrm>
          <a:custGeom>
            <a:avLst/>
            <a:gdLst/>
            <a:ahLst/>
            <a:cxnLst/>
            <a:rect l="l" t="t" r="r" b="b"/>
            <a:pathLst>
              <a:path w="4511427" h="5313244">
                <a:moveTo>
                  <a:pt x="0" y="0"/>
                </a:moveTo>
                <a:lnTo>
                  <a:pt x="4511427" y="0"/>
                </a:lnTo>
                <a:lnTo>
                  <a:pt x="4511427" y="5313243"/>
                </a:lnTo>
                <a:lnTo>
                  <a:pt x="0" y="531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628414" y="8175666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90941" y="-1091415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614085" y="4483089"/>
            <a:ext cx="10256168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Blood bank staff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Hospital staff &amp; nurses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Regular &amp; emergency blood donors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Healthcare operations Administrators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Blood camp organizers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19205" y="1055963"/>
            <a:ext cx="11115795" cy="1700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41"/>
              </a:lnSpc>
            </a:pPr>
            <a:r>
              <a:rPr lang="en-US" sz="6846" dirty="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System Architecture &amp; Tech Stack</a:t>
            </a:r>
          </a:p>
        </p:txBody>
      </p:sp>
      <p:sp>
        <p:nvSpPr>
          <p:cNvPr id="5" name="Freeform 5"/>
          <p:cNvSpPr/>
          <p:nvPr/>
        </p:nvSpPr>
        <p:spPr>
          <a:xfrm>
            <a:off x="-678236" y="-154695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32036" y="-876300"/>
            <a:ext cx="4610990" cy="4610990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1" y="0"/>
                </a:lnTo>
                <a:lnTo>
                  <a:pt x="4610991" y="4610991"/>
                </a:lnTo>
                <a:lnTo>
                  <a:pt x="0" y="46109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29538" y="8039100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90941" y="-1091415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20EB38-A5BF-30B7-63A7-FFD11D1441D2}"/>
              </a:ext>
            </a:extLst>
          </p:cNvPr>
          <p:cNvSpPr txBox="1"/>
          <p:nvPr/>
        </p:nvSpPr>
        <p:spPr>
          <a:xfrm>
            <a:off x="1262217" y="3446620"/>
            <a:ext cx="113775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🖥  Frontend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6AF63C-40C2-2CA9-2DC0-4F977833A989}"/>
              </a:ext>
            </a:extLst>
          </p:cNvPr>
          <p:cNvSpPr txBox="1"/>
          <p:nvPr/>
        </p:nvSpPr>
        <p:spPr>
          <a:xfrm>
            <a:off x="11005941" y="3446620"/>
            <a:ext cx="47670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⚙  Backend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C4535-19FF-407A-4253-CE57DFB762D3}"/>
              </a:ext>
            </a:extLst>
          </p:cNvPr>
          <p:cNvSpPr txBox="1"/>
          <p:nvPr/>
        </p:nvSpPr>
        <p:spPr>
          <a:xfrm>
            <a:off x="5737515" y="3446620"/>
            <a:ext cx="45407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🗄  Database &amp; Infra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AC8AD0-6BE3-565D-5028-FE67734B2D7F}"/>
              </a:ext>
            </a:extLst>
          </p:cNvPr>
          <p:cNvSpPr txBox="1"/>
          <p:nvPr/>
        </p:nvSpPr>
        <p:spPr>
          <a:xfrm>
            <a:off x="1484667" y="4358617"/>
            <a:ext cx="3520439" cy="44858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800" b="1" dirty="0">
                <a:solidFill>
                  <a:srgbClr val="C00000"/>
                </a:solidFill>
              </a:rPr>
              <a:t>React 19 + </a:t>
            </a:r>
            <a:r>
              <a:rPr sz="2800" b="1" dirty="0" err="1">
                <a:solidFill>
                  <a:srgbClr val="C00000"/>
                </a:solidFill>
              </a:rPr>
              <a:t>Vite</a:t>
            </a:r>
            <a:r>
              <a:rPr sz="2800" b="1" dirty="0">
                <a:solidFill>
                  <a:srgbClr val="C00000"/>
                </a:solidFill>
              </a:rPr>
              <a:t> 7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React Router DOM v7 – SPA routing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</a:t>
            </a:r>
            <a:r>
              <a:rPr sz="2000" b="0" dirty="0" err="1">
                <a:solidFill>
                  <a:srgbClr val="222222"/>
                </a:solidFill>
              </a:rPr>
              <a:t>Axios</a:t>
            </a:r>
            <a:r>
              <a:rPr sz="2000" b="0" dirty="0">
                <a:solidFill>
                  <a:srgbClr val="222222"/>
                </a:solidFill>
              </a:rPr>
              <a:t> – REST API communication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Tailwind CSS + SCSS – Styling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Framer Motion – Animations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Recharts – Data </a:t>
            </a:r>
            <a:r>
              <a:rPr sz="2000" b="0" dirty="0" err="1">
                <a:solidFill>
                  <a:srgbClr val="222222"/>
                </a:solidFill>
              </a:rPr>
              <a:t>visualisation</a:t>
            </a:r>
            <a:endParaRPr sz="2000" b="0" dirty="0">
              <a:solidFill>
                <a:srgbClr val="222222"/>
              </a:solidFill>
            </a:endParaRP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Leaflet – Interactive maps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html5-qrcode / </a:t>
            </a:r>
            <a:r>
              <a:rPr sz="2000" b="0" dirty="0" err="1">
                <a:solidFill>
                  <a:srgbClr val="222222"/>
                </a:solidFill>
              </a:rPr>
              <a:t>qrcode.react</a:t>
            </a:r>
            <a:endParaRPr sz="2000" b="0" dirty="0">
              <a:solidFill>
                <a:srgbClr val="222222"/>
              </a:solidFill>
            </a:endParaRP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JWT (</a:t>
            </a:r>
            <a:r>
              <a:rPr sz="2000" b="0" dirty="0" err="1">
                <a:solidFill>
                  <a:srgbClr val="222222"/>
                </a:solidFill>
              </a:rPr>
              <a:t>jwt</a:t>
            </a:r>
            <a:r>
              <a:rPr sz="2000" b="0" dirty="0">
                <a:solidFill>
                  <a:srgbClr val="222222"/>
                </a:solidFill>
              </a:rPr>
              <a:t>-decode) – Auth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• SweetAlert2 – Notifications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EDBAE1-C892-AE3B-F284-C8D4726D848B}"/>
              </a:ext>
            </a:extLst>
          </p:cNvPr>
          <p:cNvSpPr txBox="1"/>
          <p:nvPr/>
        </p:nvSpPr>
        <p:spPr>
          <a:xfrm>
            <a:off x="6071977" y="4340729"/>
            <a:ext cx="3757823" cy="38702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sz="2800" b="1" dirty="0">
                <a:solidFill>
                  <a:srgbClr val="C00000"/>
                </a:solidFill>
              </a:rPr>
              <a:t>Django 5.2 + DRF 3.16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Django REST Framework – APIs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SimpleJWT</a:t>
            </a:r>
            <a:r>
              <a:rPr lang="en-US" sz="2000" b="0" dirty="0">
                <a:solidFill>
                  <a:srgbClr val="222222"/>
                </a:solidFill>
              </a:rPr>
              <a:t> – Token auth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Django </a:t>
            </a:r>
            <a:r>
              <a:rPr lang="en-US" sz="2000" b="0" dirty="0" err="1">
                <a:solidFill>
                  <a:srgbClr val="222222"/>
                </a:solidFill>
              </a:rPr>
              <a:t>Jazzmin</a:t>
            </a:r>
            <a:r>
              <a:rPr lang="en-US" sz="2000" b="0" dirty="0">
                <a:solidFill>
                  <a:srgbClr val="222222"/>
                </a:solidFill>
              </a:rPr>
              <a:t> – Admin UI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WhiteNoise</a:t>
            </a:r>
            <a:r>
              <a:rPr lang="en-US" sz="2000" b="0" dirty="0">
                <a:solidFill>
                  <a:srgbClr val="222222"/>
                </a:solidFill>
              </a:rPr>
              <a:t> – Static files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django</a:t>
            </a:r>
            <a:r>
              <a:rPr lang="en-US" sz="2000" b="0" dirty="0">
                <a:solidFill>
                  <a:srgbClr val="222222"/>
                </a:solidFill>
              </a:rPr>
              <a:t>-</a:t>
            </a:r>
            <a:r>
              <a:rPr lang="en-US" sz="2000" b="0" dirty="0" err="1">
                <a:solidFill>
                  <a:srgbClr val="222222"/>
                </a:solidFill>
              </a:rPr>
              <a:t>cors</a:t>
            </a:r>
            <a:r>
              <a:rPr lang="en-US" sz="2000" b="0" dirty="0">
                <a:solidFill>
                  <a:srgbClr val="222222"/>
                </a:solidFill>
              </a:rPr>
              <a:t>-headers – CORS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phonenumber</a:t>
            </a:r>
            <a:r>
              <a:rPr lang="en-US" sz="2000" b="0" dirty="0">
                <a:solidFill>
                  <a:srgbClr val="222222"/>
                </a:solidFill>
              </a:rPr>
              <a:t>-field – Phone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django</a:t>
            </a:r>
            <a:r>
              <a:rPr lang="en-US" sz="2000" b="0" dirty="0">
                <a:solidFill>
                  <a:srgbClr val="222222"/>
                </a:solidFill>
              </a:rPr>
              <a:t>-rest-</a:t>
            </a:r>
            <a:r>
              <a:rPr lang="en-US" sz="2000" b="0" dirty="0" err="1">
                <a:solidFill>
                  <a:srgbClr val="222222"/>
                </a:solidFill>
              </a:rPr>
              <a:t>passwordreset</a:t>
            </a:r>
            <a:endParaRPr lang="en-US" sz="2000" b="0" dirty="0">
              <a:solidFill>
                <a:srgbClr val="222222"/>
              </a:solidFill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Gunicorn</a:t>
            </a:r>
            <a:r>
              <a:rPr lang="en-US" sz="2000" b="0" dirty="0">
                <a:solidFill>
                  <a:srgbClr val="222222"/>
                </a:solidFill>
              </a:rPr>
              <a:t> – WSGI Server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Coverage.py – Test coverage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C9B9CF-1906-68E3-9094-E85B066666B1}"/>
              </a:ext>
            </a:extLst>
          </p:cNvPr>
          <p:cNvSpPr txBox="1"/>
          <p:nvPr/>
        </p:nvSpPr>
        <p:spPr>
          <a:xfrm>
            <a:off x="10927725" y="4340730"/>
            <a:ext cx="4159875" cy="39934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sz="2800" b="1" dirty="0">
                <a:solidFill>
                  <a:srgbClr val="C00000"/>
                </a:solidFill>
              </a:rPr>
              <a:t>SQLite (dev) / PostgreSQL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Docker – </a:t>
            </a:r>
            <a:r>
              <a:rPr lang="en-US" sz="2000" b="0" dirty="0" err="1">
                <a:solidFill>
                  <a:srgbClr val="222222"/>
                </a:solidFill>
              </a:rPr>
              <a:t>Containerisation</a:t>
            </a:r>
            <a:endParaRPr lang="en-US" sz="2000" b="0" dirty="0">
              <a:solidFill>
                <a:srgbClr val="222222"/>
              </a:solidFill>
            </a:endParaRP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GitHub Actions – CI/CD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</a:t>
            </a:r>
            <a:r>
              <a:rPr lang="en-US" sz="2000" b="0" dirty="0" err="1">
                <a:solidFill>
                  <a:srgbClr val="222222"/>
                </a:solidFill>
              </a:rPr>
              <a:t>Makefile</a:t>
            </a:r>
            <a:r>
              <a:rPr lang="en-US" sz="2000" b="0" dirty="0">
                <a:solidFill>
                  <a:srgbClr val="222222"/>
                </a:solidFill>
              </a:rPr>
              <a:t> – Task automation</a:t>
            </a:r>
          </a:p>
          <a:p>
            <a:pPr>
              <a:spcBef>
                <a:spcPts val="500"/>
              </a:spcBef>
            </a:pPr>
            <a:endParaRPr lang="en-US" sz="2000" b="0" dirty="0">
              <a:solidFill>
                <a:srgbClr val="222222"/>
              </a:solidFill>
            </a:endParaRPr>
          </a:p>
          <a:p>
            <a:pPr>
              <a:spcBef>
                <a:spcPts val="500"/>
              </a:spcBef>
            </a:pPr>
            <a:r>
              <a:rPr lang="en-US" sz="2800" b="1" dirty="0">
                <a:solidFill>
                  <a:srgbClr val="C00000"/>
                </a:solidFill>
              </a:rPr>
              <a:t>Authentication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JWT Access + Refresh tokens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Token Blacklist on logout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Role-based access control</a:t>
            </a:r>
          </a:p>
          <a:p>
            <a:pPr>
              <a:spcBef>
                <a:spcPts val="500"/>
              </a:spcBef>
            </a:pPr>
            <a:r>
              <a:rPr lang="en-US" sz="2000" b="0" dirty="0">
                <a:solidFill>
                  <a:srgbClr val="222222"/>
                </a:solidFill>
              </a:rPr>
              <a:t>• 5 user roles enforced</a:t>
            </a:r>
          </a:p>
        </p:txBody>
      </p:sp>
    </p:spTree>
    <p:extLst>
      <p:ext uri="{BB962C8B-B14F-4D97-AF65-F5344CB8AC3E}">
        <p14:creationId xmlns:p14="http://schemas.microsoft.com/office/powerpoint/2010/main" val="70333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85594" y="1181100"/>
            <a:ext cx="10517519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Project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500" y="3473596"/>
            <a:ext cx="8724893" cy="5875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Custom JWT auth with role-based access (5 roles)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Donor portal: registration, QR ID, eligibility, donation history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Blood camp: event management, donor QR scanning, collection workflow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Blood inventory: full CRUD with 4-stage approval workflow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Hospital management &amp; inventory dashboard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Doctor blood request: multi-stage lifecycle (Pending → Fulfilled)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Expiry alert system with automated daily checks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Lab / Staff dashboard with quality-check workflow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Admin dashboard: analytics, charts (Recharts), hospital management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Notification workflow system for donors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Inter-hospital blood transfer tracking</a:t>
            </a:r>
          </a:p>
          <a:p>
            <a:pPr>
              <a:spcBef>
                <a:spcPts val="500"/>
              </a:spcBef>
            </a:pPr>
            <a:r>
              <a:rPr lang="en-US" sz="2400" b="0" dirty="0">
                <a:solidFill>
                  <a:srgbClr val="222222"/>
                </a:solidFill>
              </a:rPr>
              <a:t>✅ </a:t>
            </a:r>
            <a:r>
              <a:rPr lang="en-US" sz="2400" b="0" dirty="0" err="1">
                <a:solidFill>
                  <a:srgbClr val="222222"/>
                </a:solidFill>
              </a:rPr>
              <a:t>Dockerised</a:t>
            </a:r>
            <a:r>
              <a:rPr lang="en-US" sz="2400" b="0" dirty="0">
                <a:solidFill>
                  <a:srgbClr val="222222"/>
                </a:solidFill>
              </a:rPr>
              <a:t> deployment with GitHub Actions CI/CD</a:t>
            </a:r>
          </a:p>
        </p:txBody>
      </p:sp>
      <p:sp>
        <p:nvSpPr>
          <p:cNvPr id="6" name="Freeform 6"/>
          <p:cNvSpPr/>
          <p:nvPr/>
        </p:nvSpPr>
        <p:spPr>
          <a:xfrm>
            <a:off x="15351123" y="0"/>
            <a:ext cx="3099449" cy="3650315"/>
          </a:xfrm>
          <a:custGeom>
            <a:avLst/>
            <a:gdLst/>
            <a:ahLst/>
            <a:cxnLst/>
            <a:rect l="l" t="t" r="r" b="b"/>
            <a:pathLst>
              <a:path w="3099449" h="3650315">
                <a:moveTo>
                  <a:pt x="0" y="0"/>
                </a:moveTo>
                <a:lnTo>
                  <a:pt x="3099449" y="0"/>
                </a:lnTo>
                <a:lnTo>
                  <a:pt x="3099449" y="3650315"/>
                </a:lnTo>
                <a:lnTo>
                  <a:pt x="0" y="3650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93425" y="2413146"/>
            <a:ext cx="625659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Completed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37174" y="3473597"/>
            <a:ext cx="7584026" cy="4390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⏳ Email notifications</a:t>
            </a:r>
          </a:p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⏳ Production PostgreSQL migration</a:t>
            </a:r>
          </a:p>
          <a:p>
            <a:pPr>
              <a:spcBef>
                <a:spcPts val="500"/>
              </a:spcBef>
            </a:pPr>
            <a:endParaRPr lang="en-US" sz="2800" b="0" dirty="0">
              <a:solidFill>
                <a:srgbClr val="222222"/>
              </a:solidFill>
            </a:endParaRPr>
          </a:p>
          <a:p>
            <a:pPr>
              <a:spcBef>
                <a:spcPts val="500"/>
              </a:spcBef>
            </a:pPr>
            <a:r>
              <a:rPr lang="en-US" sz="2800" b="1" dirty="0">
                <a:solidFill>
                  <a:srgbClr val="C00000"/>
                </a:solidFill>
              </a:rPr>
              <a:t>📊 Stats</a:t>
            </a:r>
          </a:p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• 136 Pull Requests</a:t>
            </a:r>
          </a:p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• 227+ Total Commits</a:t>
            </a:r>
          </a:p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• 4 Contributors</a:t>
            </a:r>
          </a:p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• 5 distinct user roles</a:t>
            </a:r>
          </a:p>
          <a:p>
            <a:pPr>
              <a:spcBef>
                <a:spcPts val="500"/>
              </a:spcBef>
            </a:pPr>
            <a:r>
              <a:rPr lang="en-US" sz="2800" b="0" dirty="0">
                <a:solidFill>
                  <a:srgbClr val="222222"/>
                </a:solidFill>
              </a:rPr>
              <a:t>• 15+ Django models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49192" y="2453814"/>
            <a:ext cx="6256592" cy="65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0"/>
              </a:lnSpc>
            </a:pPr>
            <a:r>
              <a:rPr lang="en-US" sz="500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In Progress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9372600" y="2413146"/>
            <a:ext cx="0" cy="6492240"/>
          </a:xfrm>
          <a:prstGeom prst="line">
            <a:avLst/>
          </a:prstGeom>
          <a:ln w="57150" cap="flat">
            <a:solidFill>
              <a:srgbClr val="1D6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023F79C-5C1C-3487-2ED7-CA8C35B094CA}"/>
              </a:ext>
            </a:extLst>
          </p:cNvPr>
          <p:cNvSpPr/>
          <p:nvPr/>
        </p:nvSpPr>
        <p:spPr>
          <a:xfrm>
            <a:off x="-370379" y="148319"/>
            <a:ext cx="3099448" cy="2632981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0" y="0"/>
                </a:lnTo>
                <a:lnTo>
                  <a:pt x="4610990" y="4610990"/>
                </a:lnTo>
                <a:lnTo>
                  <a:pt x="0" y="46109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91C5B93-73C1-6AE5-56AB-B73BD3DA2C00}"/>
              </a:ext>
            </a:extLst>
          </p:cNvPr>
          <p:cNvSpPr/>
          <p:nvPr/>
        </p:nvSpPr>
        <p:spPr>
          <a:xfrm>
            <a:off x="14035873" y="7123912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2741" y="2209691"/>
            <a:ext cx="10668342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Challenges and Solutions</a:t>
            </a:r>
          </a:p>
        </p:txBody>
      </p:sp>
      <p:sp>
        <p:nvSpPr>
          <p:cNvPr id="3" name="Freeform 3"/>
          <p:cNvSpPr/>
          <p:nvPr/>
        </p:nvSpPr>
        <p:spPr>
          <a:xfrm rot="2435248">
            <a:off x="-2690628" y="6762587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02888">
            <a:off x="7541777" y="-1703500"/>
            <a:ext cx="3205315" cy="3547129"/>
          </a:xfrm>
          <a:custGeom>
            <a:avLst/>
            <a:gdLst/>
            <a:ahLst/>
            <a:cxnLst/>
            <a:rect l="l" t="t" r="r" b="b"/>
            <a:pathLst>
              <a:path w="3205315" h="3547129">
                <a:moveTo>
                  <a:pt x="0" y="0"/>
                </a:moveTo>
                <a:lnTo>
                  <a:pt x="3205315" y="0"/>
                </a:lnTo>
                <a:lnTo>
                  <a:pt x="3205315" y="3547129"/>
                </a:lnTo>
                <a:lnTo>
                  <a:pt x="0" y="35471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405125" y="-1171142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1" y="0"/>
                </a:lnTo>
                <a:lnTo>
                  <a:pt x="2897441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46971" y="-442638"/>
            <a:ext cx="4610990" cy="4610990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0" y="0"/>
                </a:lnTo>
                <a:lnTo>
                  <a:pt x="4610990" y="4610990"/>
                </a:lnTo>
                <a:lnTo>
                  <a:pt x="0" y="46109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76441" y="8521120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246971" y="7781337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6780" y="3532383"/>
            <a:ext cx="14555220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200" b="1" i="0" dirty="0"/>
              <a:t>Real-time Expiry Alerts </a:t>
            </a:r>
            <a:r>
              <a:rPr lang="en-US" sz="3200" b="1" dirty="0"/>
              <a:t>                </a:t>
            </a:r>
            <a:r>
              <a:rPr lang="en-US" sz="3200" b="0" i="0" dirty="0">
                <a:solidFill>
                  <a:srgbClr val="222222"/>
                </a:solidFill>
              </a:rPr>
              <a:t>✅</a:t>
            </a:r>
            <a:r>
              <a:rPr lang="en-US" sz="3200" b="1" i="0" dirty="0"/>
              <a:t> </a:t>
            </a:r>
            <a:r>
              <a:rPr lang="en-US" sz="3200" b="0" i="0" dirty="0"/>
              <a:t> Needed automated detection of         								       expiring blood units                                    </a:t>
            </a:r>
          </a:p>
          <a:p>
            <a:pPr algn="just"/>
            <a:endParaRPr lang="en-US" sz="3200" b="1" i="0" dirty="0"/>
          </a:p>
          <a:p>
            <a:pPr algn="just"/>
            <a:r>
              <a:rPr lang="en-US" sz="3200" b="1" i="0" dirty="0"/>
              <a:t>JWT Token Management	         </a:t>
            </a:r>
            <a:r>
              <a:rPr lang="en-US" sz="3200" b="0" i="0" dirty="0">
                <a:solidFill>
                  <a:srgbClr val="222222"/>
                </a:solidFill>
              </a:rPr>
              <a:t>✅ Implemented token blacklisting + rotating refresh 						</a:t>
            </a:r>
            <a:r>
              <a:rPr lang="en-US" sz="3200" dirty="0">
                <a:solidFill>
                  <a:srgbClr val="222222"/>
                </a:solidFill>
              </a:rPr>
              <a:t>       </a:t>
            </a:r>
            <a:r>
              <a:rPr lang="en-US" sz="3200" b="0" i="0" dirty="0">
                <a:solidFill>
                  <a:srgbClr val="222222"/>
                </a:solidFill>
              </a:rPr>
              <a:t>tokens with 15-min access token lifetime 							</a:t>
            </a:r>
          </a:p>
          <a:p>
            <a:pPr algn="just"/>
            <a:endParaRPr lang="en-US" sz="3200" b="0" i="0" dirty="0">
              <a:solidFill>
                <a:srgbClr val="222222"/>
              </a:solidFill>
            </a:endParaRPr>
          </a:p>
          <a:p>
            <a:pPr algn="just"/>
            <a:r>
              <a:rPr lang="en-US" sz="3200" b="1" i="0" dirty="0"/>
              <a:t>Blood Lifecycle Complexity 	</a:t>
            </a:r>
            <a:r>
              <a:rPr lang="en-US" sz="3200" b="0" i="0" dirty="0">
                <a:solidFill>
                  <a:srgbClr val="222222"/>
                </a:solidFill>
              </a:rPr>
              <a:t>✅ </a:t>
            </a:r>
            <a:r>
              <a:rPr lang="en-US" sz="3200" b="0" i="0" dirty="0" err="1">
                <a:solidFill>
                  <a:srgbClr val="222222"/>
                </a:solidFill>
              </a:rPr>
              <a:t>CampBloodCollection</a:t>
            </a:r>
            <a:r>
              <a:rPr lang="en-US" sz="3200" b="0" i="0" dirty="0">
                <a:solidFill>
                  <a:srgbClr val="222222"/>
                </a:solidFill>
              </a:rPr>
              <a:t> bridging model with explicit 						        status state machine</a:t>
            </a:r>
          </a:p>
          <a:p>
            <a:pPr algn="just"/>
            <a:endParaRPr lang="en-US" sz="3200" b="1" i="0" dirty="0">
              <a:solidFill>
                <a:srgbClr val="FFFFFF"/>
              </a:solidFill>
            </a:endParaRPr>
          </a:p>
          <a:p>
            <a:pPr algn="just"/>
            <a:endParaRPr lang="en-US" sz="3200" b="1" i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95600" y="1793096"/>
            <a:ext cx="9224238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Customer Feedback</a:t>
            </a:r>
          </a:p>
        </p:txBody>
      </p:sp>
      <p:sp>
        <p:nvSpPr>
          <p:cNvPr id="5" name="Freeform 5"/>
          <p:cNvSpPr/>
          <p:nvPr/>
        </p:nvSpPr>
        <p:spPr>
          <a:xfrm rot="-3602888">
            <a:off x="-764458" y="-1172737"/>
            <a:ext cx="3205315" cy="3547129"/>
          </a:xfrm>
          <a:custGeom>
            <a:avLst/>
            <a:gdLst/>
            <a:ahLst/>
            <a:cxnLst/>
            <a:rect l="l" t="t" r="r" b="b"/>
            <a:pathLst>
              <a:path w="3205315" h="3547129">
                <a:moveTo>
                  <a:pt x="0" y="0"/>
                </a:moveTo>
                <a:lnTo>
                  <a:pt x="3205315" y="0"/>
                </a:lnTo>
                <a:lnTo>
                  <a:pt x="3205315" y="3547130"/>
                </a:lnTo>
                <a:lnTo>
                  <a:pt x="0" y="3547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346865">
            <a:off x="8695682" y="6893472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1" y="0"/>
                </a:lnTo>
                <a:lnTo>
                  <a:pt x="2897441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42997" y="-1215475"/>
            <a:ext cx="3632605" cy="3632605"/>
          </a:xfrm>
          <a:custGeom>
            <a:avLst/>
            <a:gdLst/>
            <a:ahLst/>
            <a:cxnLst/>
            <a:rect l="l" t="t" r="r" b="b"/>
            <a:pathLst>
              <a:path w="3632605" h="3632605">
                <a:moveTo>
                  <a:pt x="0" y="0"/>
                </a:moveTo>
                <a:lnTo>
                  <a:pt x="3632606" y="0"/>
                </a:lnTo>
                <a:lnTo>
                  <a:pt x="3632606" y="3632605"/>
                </a:lnTo>
                <a:lnTo>
                  <a:pt x="0" y="36326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144000" y="-876135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5"/>
                </a:lnTo>
                <a:lnTo>
                  <a:pt x="0" y="2953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E9104F-489A-5CB8-65ED-0AF1246D6F3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3848100"/>
            <a:ext cx="3092058" cy="41803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62FD26-B187-1C0E-7E37-CBF2FEEF998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81719"/>
          <a:stretch/>
        </p:blipFill>
        <p:spPr>
          <a:xfrm>
            <a:off x="838200" y="7303333"/>
            <a:ext cx="3092058" cy="7251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3EC766-9714-9AB3-D5F6-2BCA083186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3870623"/>
            <a:ext cx="3495398" cy="41803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7C8656-C180-D9A7-7FCD-255A91631F8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0516" y="3870623"/>
            <a:ext cx="3525049" cy="41803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C6114C1-3CAB-E229-DF82-9AEEC6D671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17080" y="2951214"/>
            <a:ext cx="3809824" cy="39917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D27C3C2-AFFC-D0FB-9B0C-7C06AD290B3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317080" y="6942927"/>
            <a:ext cx="3819806" cy="2720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47802" y="1196420"/>
            <a:ext cx="14392395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41"/>
              </a:lnSpc>
            </a:pPr>
            <a:r>
              <a:rPr lang="en-US" sz="6600" dirty="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How Feedback Shaped Our System</a:t>
            </a:r>
          </a:p>
        </p:txBody>
      </p:sp>
      <p:sp>
        <p:nvSpPr>
          <p:cNvPr id="4" name="Freeform 4"/>
          <p:cNvSpPr/>
          <p:nvPr/>
        </p:nvSpPr>
        <p:spPr>
          <a:xfrm rot="-3602888">
            <a:off x="15042839" y="8031974"/>
            <a:ext cx="3205315" cy="3547129"/>
          </a:xfrm>
          <a:custGeom>
            <a:avLst/>
            <a:gdLst/>
            <a:ahLst/>
            <a:cxnLst/>
            <a:rect l="l" t="t" r="r" b="b"/>
            <a:pathLst>
              <a:path w="3205315" h="3547129">
                <a:moveTo>
                  <a:pt x="0" y="0"/>
                </a:moveTo>
                <a:lnTo>
                  <a:pt x="3205315" y="0"/>
                </a:lnTo>
                <a:lnTo>
                  <a:pt x="3205315" y="3547129"/>
                </a:lnTo>
                <a:lnTo>
                  <a:pt x="0" y="3547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78236" y="-154695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32287" y="-169744"/>
            <a:ext cx="4511427" cy="5313244"/>
          </a:xfrm>
          <a:custGeom>
            <a:avLst/>
            <a:gdLst/>
            <a:ahLst/>
            <a:cxnLst/>
            <a:rect l="l" t="t" r="r" b="b"/>
            <a:pathLst>
              <a:path w="4511427" h="5313244">
                <a:moveTo>
                  <a:pt x="0" y="0"/>
                </a:moveTo>
                <a:lnTo>
                  <a:pt x="4511426" y="0"/>
                </a:lnTo>
                <a:lnTo>
                  <a:pt x="4511426" y="5313244"/>
                </a:lnTo>
                <a:lnTo>
                  <a:pt x="0" y="5313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483672" y="8593647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47C468-4D0C-D513-9178-74F4099A6C3E}"/>
              </a:ext>
            </a:extLst>
          </p:cNvPr>
          <p:cNvSpPr txBox="1"/>
          <p:nvPr/>
        </p:nvSpPr>
        <p:spPr>
          <a:xfrm>
            <a:off x="12204192" y="7877616"/>
            <a:ext cx="1645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555555"/>
                </a:solidFill>
              </a:rPr>
              <a:t>devdynamos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29756B-8660-16F6-D599-481950E9A65E}"/>
              </a:ext>
            </a:extLst>
          </p:cNvPr>
          <p:cNvSpPr/>
          <p:nvPr/>
        </p:nvSpPr>
        <p:spPr>
          <a:xfrm>
            <a:off x="1387676" y="2436936"/>
            <a:ext cx="7297646" cy="31587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8CD5F8-DF56-AA32-C362-9B538B135B7F}"/>
              </a:ext>
            </a:extLst>
          </p:cNvPr>
          <p:cNvSpPr/>
          <p:nvPr/>
        </p:nvSpPr>
        <p:spPr>
          <a:xfrm>
            <a:off x="1373628" y="2482792"/>
            <a:ext cx="6658402" cy="4656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8E8869-09C6-3FB2-2B9C-93FBBBCF9ACE}"/>
              </a:ext>
            </a:extLst>
          </p:cNvPr>
          <p:cNvSpPr txBox="1"/>
          <p:nvPr/>
        </p:nvSpPr>
        <p:spPr>
          <a:xfrm>
            <a:off x="1848491" y="2551939"/>
            <a:ext cx="6447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chemeClr val="bg1"/>
                </a:solidFill>
              </a:rPr>
              <a:t>🩸 Donor Feedback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317FB7-16B7-BDB1-4D60-51C1BF87F8D0}"/>
              </a:ext>
            </a:extLst>
          </p:cNvPr>
          <p:cNvSpPr txBox="1"/>
          <p:nvPr/>
        </p:nvSpPr>
        <p:spPr>
          <a:xfrm>
            <a:off x="1712235" y="3202530"/>
            <a:ext cx="6075405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Users wanted to see eligibility countdown → Added '90-day rule' eligibility checker with next-donation-date display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Requested QR code for easy camp check-in → Implemented UUID-based QR ID per donor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Wanted history of past donations → Built full donation history with certificate ID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E61600-9338-6185-2F43-6564A588BD8B}"/>
              </a:ext>
            </a:extLst>
          </p:cNvPr>
          <p:cNvSpPr/>
          <p:nvPr/>
        </p:nvSpPr>
        <p:spPr>
          <a:xfrm>
            <a:off x="7924800" y="2436936"/>
            <a:ext cx="7008922" cy="33613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A7F0D9-A1B2-D16D-9696-370B013B6A7F}"/>
              </a:ext>
            </a:extLst>
          </p:cNvPr>
          <p:cNvSpPr/>
          <p:nvPr/>
        </p:nvSpPr>
        <p:spPr>
          <a:xfrm>
            <a:off x="7924800" y="2495080"/>
            <a:ext cx="6658402" cy="4656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4B95E1-C57D-AAF5-376E-DC028E532730}"/>
              </a:ext>
            </a:extLst>
          </p:cNvPr>
          <p:cNvSpPr txBox="1"/>
          <p:nvPr/>
        </p:nvSpPr>
        <p:spPr>
          <a:xfrm>
            <a:off x="7981558" y="2593233"/>
            <a:ext cx="6447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🏥 Doctor Feedback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4D1291-9DBA-7194-AE05-D7A29E92C420}"/>
              </a:ext>
            </a:extLst>
          </p:cNvPr>
          <p:cNvSpPr txBox="1"/>
          <p:nvPr/>
        </p:nvSpPr>
        <p:spPr>
          <a:xfrm>
            <a:off x="7965512" y="3283072"/>
            <a:ext cx="6206558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Doctors needed priority levels on requests → Added NORMAL / HIGH / CRITICAL urgency flags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Wanted status tracking in one place → Built request tracking dashboard with live status updates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0AC3BE5-2A46-3FC9-8515-6FBC1EE7340A}"/>
              </a:ext>
            </a:extLst>
          </p:cNvPr>
          <p:cNvSpPr/>
          <p:nvPr/>
        </p:nvSpPr>
        <p:spPr>
          <a:xfrm>
            <a:off x="1387676" y="5595652"/>
            <a:ext cx="7008922" cy="39714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91A0C36-6697-9F98-5A1F-F5D5C3CC741E}"/>
              </a:ext>
            </a:extLst>
          </p:cNvPr>
          <p:cNvSpPr/>
          <p:nvPr/>
        </p:nvSpPr>
        <p:spPr>
          <a:xfrm>
            <a:off x="1389300" y="5869278"/>
            <a:ext cx="6658402" cy="4656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AE6EEC-14E4-92FC-4B9F-67430B95F344}"/>
              </a:ext>
            </a:extLst>
          </p:cNvPr>
          <p:cNvSpPr txBox="1"/>
          <p:nvPr/>
        </p:nvSpPr>
        <p:spPr>
          <a:xfrm>
            <a:off x="1888124" y="5930561"/>
            <a:ext cx="6447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🔬 Staff Feedback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6B2FA8-92E4-0742-A7C2-2C280058FC0B}"/>
              </a:ext>
            </a:extLst>
          </p:cNvPr>
          <p:cNvSpPr txBox="1"/>
          <p:nvPr/>
        </p:nvSpPr>
        <p:spPr>
          <a:xfrm>
            <a:off x="1697725" y="6730560"/>
            <a:ext cx="639418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Staff requested audit trail for inventory changes → Implemented 4-stage approval with reviewer FKs + notes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Needed alerts for near-expiry blood → Built </a:t>
            </a:r>
            <a:r>
              <a:rPr sz="2000" b="0" dirty="0" err="1">
                <a:solidFill>
                  <a:srgbClr val="222222"/>
                </a:solidFill>
              </a:rPr>
              <a:t>ExpiryAlert</a:t>
            </a:r>
            <a:r>
              <a:rPr sz="2000" b="0" dirty="0">
                <a:solidFill>
                  <a:srgbClr val="222222"/>
                </a:solidFill>
              </a:rPr>
              <a:t> model with 7-day and 3-day thresholds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0052FA-34CC-A25F-7225-6C3218FBBE2B}"/>
              </a:ext>
            </a:extLst>
          </p:cNvPr>
          <p:cNvSpPr/>
          <p:nvPr/>
        </p:nvSpPr>
        <p:spPr>
          <a:xfrm>
            <a:off x="7949576" y="5143500"/>
            <a:ext cx="7008922" cy="4432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5BA8969-E873-A92D-45C9-8CF56DA7228D}"/>
              </a:ext>
            </a:extLst>
          </p:cNvPr>
          <p:cNvSpPr/>
          <p:nvPr/>
        </p:nvSpPr>
        <p:spPr>
          <a:xfrm>
            <a:off x="7965512" y="5883812"/>
            <a:ext cx="6658402" cy="46565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2C42A1-B22B-D067-A4D9-8C993F3DB04A}"/>
              </a:ext>
            </a:extLst>
          </p:cNvPr>
          <p:cNvSpPr txBox="1"/>
          <p:nvPr/>
        </p:nvSpPr>
        <p:spPr>
          <a:xfrm>
            <a:off x="8370176" y="5887955"/>
            <a:ext cx="64470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👑 Admin Feedback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8F1C69-77BB-7D53-CF55-1FB1B12A388B}"/>
              </a:ext>
            </a:extLst>
          </p:cNvPr>
          <p:cNvSpPr txBox="1"/>
          <p:nvPr/>
        </p:nvSpPr>
        <p:spPr>
          <a:xfrm>
            <a:off x="7959569" y="6726300"/>
            <a:ext cx="639418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Admin needed cross-hospital visibility → Implemented National Inventory Dashboard with Recharts</a:t>
            </a:r>
          </a:p>
          <a:p>
            <a:pPr>
              <a:spcBef>
                <a:spcPts val="500"/>
              </a:spcBef>
            </a:pPr>
            <a:r>
              <a:rPr sz="2000" b="0" dirty="0">
                <a:solidFill>
                  <a:srgbClr val="222222"/>
                </a:solidFill>
              </a:rPr>
              <a:t>Wanted camp-to-hospital blood tracking → Added camp destination</a:t>
            </a:r>
            <a:r>
              <a:rPr lang="en-US" sz="2000" b="0" dirty="0">
                <a:solidFill>
                  <a:srgbClr val="222222"/>
                </a:solidFill>
              </a:rPr>
              <a:t> </a:t>
            </a:r>
            <a:r>
              <a:rPr sz="2000" b="0" dirty="0">
                <a:solidFill>
                  <a:srgbClr val="222222"/>
                </a:solidFill>
              </a:rPr>
              <a:t>hospital and transit lifecycle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35248">
            <a:off x="-1035456" y="8038741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7"/>
                </a:lnTo>
                <a:lnTo>
                  <a:pt x="0" y="4991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41322" y="7633420"/>
            <a:ext cx="3249759" cy="3249759"/>
          </a:xfrm>
          <a:custGeom>
            <a:avLst/>
            <a:gdLst/>
            <a:ahLst/>
            <a:cxnLst/>
            <a:rect l="l" t="t" r="r" b="b"/>
            <a:pathLst>
              <a:path w="3249759" h="3249759">
                <a:moveTo>
                  <a:pt x="0" y="0"/>
                </a:moveTo>
                <a:lnTo>
                  <a:pt x="3249759" y="0"/>
                </a:lnTo>
                <a:lnTo>
                  <a:pt x="3249759" y="3249760"/>
                </a:lnTo>
                <a:lnTo>
                  <a:pt x="0" y="3249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46971" y="2509470"/>
            <a:ext cx="2996313" cy="3528848"/>
          </a:xfrm>
          <a:custGeom>
            <a:avLst/>
            <a:gdLst/>
            <a:ahLst/>
            <a:cxnLst/>
            <a:rect l="l" t="t" r="r" b="b"/>
            <a:pathLst>
              <a:path w="2996313" h="3528848">
                <a:moveTo>
                  <a:pt x="0" y="0"/>
                </a:moveTo>
                <a:lnTo>
                  <a:pt x="2996312" y="0"/>
                </a:lnTo>
                <a:lnTo>
                  <a:pt x="2996312" y="3528848"/>
                </a:lnTo>
                <a:lnTo>
                  <a:pt x="0" y="35288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79080" y="9117300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59"/>
                </a:lnTo>
                <a:lnTo>
                  <a:pt x="0" y="3531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205942" y="-757709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57400" y="719254"/>
            <a:ext cx="12420599" cy="854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dirty="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Testing Strategy &amp; Evidence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24E391B-F297-285C-11E4-2A8ABB1123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0707" y="2164421"/>
            <a:ext cx="15086585" cy="7058276"/>
          </a:xfrm>
          <a:prstGeom prst="rect">
            <a:avLst/>
          </a:prstGeom>
        </p:spPr>
      </p:pic>
      <p:sp>
        <p:nvSpPr>
          <p:cNvPr id="34" name="Freeform 5">
            <a:extLst>
              <a:ext uri="{FF2B5EF4-FFF2-40B4-BE49-F238E27FC236}">
                <a16:creationId xmlns:a16="http://schemas.microsoft.com/office/drawing/2014/main" id="{6D71ADEF-188D-EA77-8E74-54282994C6EC}"/>
              </a:ext>
            </a:extLst>
          </p:cNvPr>
          <p:cNvSpPr/>
          <p:nvPr/>
        </p:nvSpPr>
        <p:spPr>
          <a:xfrm>
            <a:off x="-709852" y="-190500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045" y="2497830"/>
            <a:ext cx="6545941" cy="1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Collaboration</a:t>
            </a:r>
          </a:p>
          <a:p>
            <a:pPr algn="just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Evidence 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6151" y="1276083"/>
            <a:ext cx="9596606" cy="799611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572045" y="4409807"/>
            <a:ext cx="6352439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Total commits - 227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Closed Issues - 21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Pull Requests - 115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Code Reviews - 80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spc="32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Active Contributors - 4</a:t>
            </a:r>
          </a:p>
        </p:txBody>
      </p:sp>
      <p:sp>
        <p:nvSpPr>
          <p:cNvPr id="5" name="Freeform 5"/>
          <p:cNvSpPr/>
          <p:nvPr/>
        </p:nvSpPr>
        <p:spPr>
          <a:xfrm rot="2435248">
            <a:off x="-2270458" y="7343747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602888">
            <a:off x="10036714" y="-1651788"/>
            <a:ext cx="3205315" cy="3547129"/>
          </a:xfrm>
          <a:custGeom>
            <a:avLst/>
            <a:gdLst/>
            <a:ahLst/>
            <a:cxnLst/>
            <a:rect l="l" t="t" r="r" b="b"/>
            <a:pathLst>
              <a:path w="3205315" h="3547129">
                <a:moveTo>
                  <a:pt x="0" y="0"/>
                </a:moveTo>
                <a:lnTo>
                  <a:pt x="3205315" y="0"/>
                </a:lnTo>
                <a:lnTo>
                  <a:pt x="3205315" y="3547129"/>
                </a:lnTo>
                <a:lnTo>
                  <a:pt x="0" y="35471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420021" y="-665157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96473" y="7477446"/>
            <a:ext cx="3561708" cy="3561708"/>
          </a:xfrm>
          <a:custGeom>
            <a:avLst/>
            <a:gdLst/>
            <a:ahLst/>
            <a:cxnLst/>
            <a:rect l="l" t="t" r="r" b="b"/>
            <a:pathLst>
              <a:path w="3561708" h="3561708">
                <a:moveTo>
                  <a:pt x="0" y="0"/>
                </a:moveTo>
                <a:lnTo>
                  <a:pt x="3561708" y="0"/>
                </a:lnTo>
                <a:lnTo>
                  <a:pt x="3561708" y="3561708"/>
                </a:lnTo>
                <a:lnTo>
                  <a:pt x="0" y="3561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19293" y="-154695"/>
            <a:ext cx="3716067" cy="4376524"/>
          </a:xfrm>
          <a:custGeom>
            <a:avLst/>
            <a:gdLst/>
            <a:ahLst/>
            <a:cxnLst/>
            <a:rect l="l" t="t" r="r" b="b"/>
            <a:pathLst>
              <a:path w="3716067" h="4376524">
                <a:moveTo>
                  <a:pt x="0" y="0"/>
                </a:moveTo>
                <a:lnTo>
                  <a:pt x="3716067" y="0"/>
                </a:lnTo>
                <a:lnTo>
                  <a:pt x="3716067" y="4376524"/>
                </a:lnTo>
                <a:lnTo>
                  <a:pt x="0" y="43765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86525" y="8521120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700" y="0"/>
                </a:lnTo>
                <a:lnTo>
                  <a:pt x="4414700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459608" y="-1091415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23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35248">
            <a:off x="-2270458" y="7343747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20021" y="-665157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96473" y="7477446"/>
            <a:ext cx="3561708" cy="3561708"/>
          </a:xfrm>
          <a:custGeom>
            <a:avLst/>
            <a:gdLst/>
            <a:ahLst/>
            <a:cxnLst/>
            <a:rect l="l" t="t" r="r" b="b"/>
            <a:pathLst>
              <a:path w="3561708" h="3561708">
                <a:moveTo>
                  <a:pt x="0" y="0"/>
                </a:moveTo>
                <a:lnTo>
                  <a:pt x="3561708" y="0"/>
                </a:lnTo>
                <a:lnTo>
                  <a:pt x="3561708" y="3561708"/>
                </a:lnTo>
                <a:lnTo>
                  <a:pt x="0" y="3561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43935" y="-377887"/>
            <a:ext cx="3716067" cy="4376524"/>
          </a:xfrm>
          <a:custGeom>
            <a:avLst/>
            <a:gdLst/>
            <a:ahLst/>
            <a:cxnLst/>
            <a:rect l="l" t="t" r="r" b="b"/>
            <a:pathLst>
              <a:path w="3716067" h="4376524">
                <a:moveTo>
                  <a:pt x="0" y="0"/>
                </a:moveTo>
                <a:lnTo>
                  <a:pt x="3716067" y="0"/>
                </a:lnTo>
                <a:lnTo>
                  <a:pt x="3716067" y="4376524"/>
                </a:lnTo>
                <a:lnTo>
                  <a:pt x="0" y="4376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86525" y="8521120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700" y="0"/>
                </a:lnTo>
                <a:lnTo>
                  <a:pt x="4414700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810375"/>
            <a:ext cx="16048627" cy="7582976"/>
          </a:xfrm>
          <a:custGeom>
            <a:avLst/>
            <a:gdLst/>
            <a:ahLst/>
            <a:cxnLst/>
            <a:rect l="l" t="t" r="r" b="b"/>
            <a:pathLst>
              <a:path w="16048627" h="7582976">
                <a:moveTo>
                  <a:pt x="0" y="0"/>
                </a:moveTo>
                <a:lnTo>
                  <a:pt x="16048627" y="0"/>
                </a:lnTo>
                <a:lnTo>
                  <a:pt x="16048627" y="7582977"/>
                </a:lnTo>
                <a:lnTo>
                  <a:pt x="0" y="758297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02878" y="662000"/>
            <a:ext cx="11882244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GitHub commit history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1112" y="9534660"/>
            <a:ext cx="17269839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1D684C"/>
                </a:solidFill>
                <a:latin typeface="Arimo"/>
                <a:ea typeface="Arimo"/>
                <a:cs typeface="Arimo"/>
                <a:sym typeface="Arimo"/>
                <a:hlinkClick r:id="rId13" tooltip="https://github.com/cepdnaclk/e22_co2060_bloodmsystem/issues?q=is%3Aissue%20state%3Aclosed"/>
              </a:rPr>
              <a:t>https://github.com/cepdnaclk/e22_co2060_bloodmsystem/issues?q=is%3Aissue%20state%3Aclosed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1790700"/>
            <a:ext cx="14259651" cy="1253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 dirty="0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Live Demonstration</a:t>
            </a:r>
          </a:p>
        </p:txBody>
      </p:sp>
      <p:sp>
        <p:nvSpPr>
          <p:cNvPr id="3" name="Freeform 3"/>
          <p:cNvSpPr/>
          <p:nvPr/>
        </p:nvSpPr>
        <p:spPr>
          <a:xfrm rot="2435248">
            <a:off x="-2024502" y="7715685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5" y="0"/>
                </a:lnTo>
                <a:lnTo>
                  <a:pt x="8609425" y="4991427"/>
                </a:lnTo>
                <a:lnTo>
                  <a:pt x="0" y="4991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602888">
            <a:off x="14860505" y="-1575772"/>
            <a:ext cx="4247041" cy="4699945"/>
          </a:xfrm>
          <a:custGeom>
            <a:avLst/>
            <a:gdLst/>
            <a:ahLst/>
            <a:cxnLst/>
            <a:rect l="l" t="t" r="r" b="b"/>
            <a:pathLst>
              <a:path w="4247041" h="4699945">
                <a:moveTo>
                  <a:pt x="0" y="0"/>
                </a:moveTo>
                <a:lnTo>
                  <a:pt x="4247041" y="0"/>
                </a:lnTo>
                <a:lnTo>
                  <a:pt x="4247041" y="4699945"/>
                </a:lnTo>
                <a:lnTo>
                  <a:pt x="0" y="469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294131" y="1732096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1" y="0"/>
                </a:lnTo>
                <a:lnTo>
                  <a:pt x="2897441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133203" y="7388697"/>
            <a:ext cx="3374825" cy="3374825"/>
          </a:xfrm>
          <a:custGeom>
            <a:avLst/>
            <a:gdLst/>
            <a:ahLst/>
            <a:cxnLst/>
            <a:rect l="l" t="t" r="r" b="b"/>
            <a:pathLst>
              <a:path w="3374825" h="3374825">
                <a:moveTo>
                  <a:pt x="0" y="0"/>
                </a:moveTo>
                <a:lnTo>
                  <a:pt x="3374825" y="0"/>
                </a:lnTo>
                <a:lnTo>
                  <a:pt x="3374825" y="3374825"/>
                </a:lnTo>
                <a:lnTo>
                  <a:pt x="0" y="33748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68977" y="8076022"/>
            <a:ext cx="3129173" cy="3685322"/>
          </a:xfrm>
          <a:custGeom>
            <a:avLst/>
            <a:gdLst/>
            <a:ahLst/>
            <a:cxnLst/>
            <a:rect l="l" t="t" r="r" b="b"/>
            <a:pathLst>
              <a:path w="3129173" h="3685322">
                <a:moveTo>
                  <a:pt x="0" y="0"/>
                </a:moveTo>
                <a:lnTo>
                  <a:pt x="3129173" y="0"/>
                </a:lnTo>
                <a:lnTo>
                  <a:pt x="3129173" y="3685322"/>
                </a:lnTo>
                <a:lnTo>
                  <a:pt x="0" y="3685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416378" y="-702763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2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33EE359D-5FA2-8C27-A40E-5F635120F9BF}"/>
              </a:ext>
            </a:extLst>
          </p:cNvPr>
          <p:cNvSpPr/>
          <p:nvPr/>
        </p:nvSpPr>
        <p:spPr>
          <a:xfrm>
            <a:off x="2900521" y="4229100"/>
            <a:ext cx="2205786" cy="2205786"/>
          </a:xfrm>
          <a:custGeom>
            <a:avLst/>
            <a:gdLst/>
            <a:ahLst/>
            <a:cxnLst/>
            <a:rect l="l" t="t" r="r" b="b"/>
            <a:pathLst>
              <a:path w="2205786" h="2205786">
                <a:moveTo>
                  <a:pt x="0" y="0"/>
                </a:moveTo>
                <a:lnTo>
                  <a:pt x="2205786" y="0"/>
                </a:lnTo>
                <a:lnTo>
                  <a:pt x="2205786" y="2205786"/>
                </a:lnTo>
                <a:lnTo>
                  <a:pt x="0" y="22057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1ABED3F0-8DD2-1D9C-0CF5-C2379E940B12}"/>
              </a:ext>
            </a:extLst>
          </p:cNvPr>
          <p:cNvSpPr/>
          <p:nvPr/>
        </p:nvSpPr>
        <p:spPr>
          <a:xfrm>
            <a:off x="7767583" y="4198495"/>
            <a:ext cx="2192114" cy="2192114"/>
          </a:xfrm>
          <a:custGeom>
            <a:avLst/>
            <a:gdLst/>
            <a:ahLst/>
            <a:cxnLst/>
            <a:rect l="l" t="t" r="r" b="b"/>
            <a:pathLst>
              <a:path w="2192114" h="2192114">
                <a:moveTo>
                  <a:pt x="0" y="0"/>
                </a:moveTo>
                <a:lnTo>
                  <a:pt x="2192114" y="0"/>
                </a:lnTo>
                <a:lnTo>
                  <a:pt x="2192114" y="2192114"/>
                </a:lnTo>
                <a:lnTo>
                  <a:pt x="0" y="21921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1" name="Freeform 15">
            <a:extLst>
              <a:ext uri="{FF2B5EF4-FFF2-40B4-BE49-F238E27FC236}">
                <a16:creationId xmlns:a16="http://schemas.microsoft.com/office/drawing/2014/main" id="{6D2807B9-207E-7957-B29B-5733A8C32528}"/>
              </a:ext>
            </a:extLst>
          </p:cNvPr>
          <p:cNvSpPr/>
          <p:nvPr/>
        </p:nvSpPr>
        <p:spPr>
          <a:xfrm>
            <a:off x="12686099" y="4099232"/>
            <a:ext cx="2275998" cy="2291377"/>
          </a:xfrm>
          <a:custGeom>
            <a:avLst/>
            <a:gdLst/>
            <a:ahLst/>
            <a:cxnLst/>
            <a:rect l="l" t="t" r="r" b="b"/>
            <a:pathLst>
              <a:path w="2275998" h="2291377">
                <a:moveTo>
                  <a:pt x="0" y="0"/>
                </a:moveTo>
                <a:lnTo>
                  <a:pt x="2275998" y="0"/>
                </a:lnTo>
                <a:lnTo>
                  <a:pt x="2275998" y="2291377"/>
                </a:lnTo>
                <a:lnTo>
                  <a:pt x="0" y="22913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435248">
            <a:off x="-3039929" y="7892254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7"/>
                </a:lnTo>
                <a:lnTo>
                  <a:pt x="0" y="49914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78236" y="-154695"/>
            <a:ext cx="2897441" cy="4034412"/>
          </a:xfrm>
          <a:custGeom>
            <a:avLst/>
            <a:gdLst/>
            <a:ahLst/>
            <a:cxnLst/>
            <a:rect l="l" t="t" r="r" b="b"/>
            <a:pathLst>
              <a:path w="2897441" h="4034412">
                <a:moveTo>
                  <a:pt x="0" y="0"/>
                </a:moveTo>
                <a:lnTo>
                  <a:pt x="2897442" y="0"/>
                </a:lnTo>
                <a:lnTo>
                  <a:pt x="2897442" y="4034412"/>
                </a:lnTo>
                <a:lnTo>
                  <a:pt x="0" y="4034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32287" y="-1627922"/>
            <a:ext cx="4511427" cy="5313244"/>
          </a:xfrm>
          <a:custGeom>
            <a:avLst/>
            <a:gdLst/>
            <a:ahLst/>
            <a:cxnLst/>
            <a:rect l="l" t="t" r="r" b="b"/>
            <a:pathLst>
              <a:path w="4511427" h="5313244">
                <a:moveTo>
                  <a:pt x="0" y="0"/>
                </a:moveTo>
                <a:lnTo>
                  <a:pt x="4511426" y="0"/>
                </a:lnTo>
                <a:lnTo>
                  <a:pt x="4511426" y="5313244"/>
                </a:lnTo>
                <a:lnTo>
                  <a:pt x="0" y="53132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90941" y="-1091415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19206" y="537948"/>
            <a:ext cx="13424294" cy="1723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Deployment &amp; Professional Deliverables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15922" y="3074726"/>
            <a:ext cx="4136340" cy="526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9"/>
              </a:lnSpc>
            </a:pPr>
            <a:r>
              <a:rPr lang="en-US" sz="3999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E - Portfolios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9B1FB-7920-4E3B-65C4-7ACAFAAB2984}"/>
              </a:ext>
            </a:extLst>
          </p:cNvPr>
          <p:cNvSpPr txBox="1"/>
          <p:nvPr/>
        </p:nvSpPr>
        <p:spPr>
          <a:xfrm>
            <a:off x="1644565" y="3074726"/>
            <a:ext cx="42228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📖 User Manual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3BFDD3-4C1A-0CD7-9703-FC505FEBB725}"/>
              </a:ext>
            </a:extLst>
          </p:cNvPr>
          <p:cNvSpPr txBox="1"/>
          <p:nvPr/>
        </p:nvSpPr>
        <p:spPr>
          <a:xfrm>
            <a:off x="5716366" y="3035385"/>
            <a:ext cx="45114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🛠 Developer Guide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692D40-2CB4-F643-9BDB-DBF1F3C1B4D0}"/>
              </a:ext>
            </a:extLst>
          </p:cNvPr>
          <p:cNvSpPr txBox="1"/>
          <p:nvPr/>
        </p:nvSpPr>
        <p:spPr>
          <a:xfrm>
            <a:off x="1447800" y="6867305"/>
            <a:ext cx="120929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🌐 Project Page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63DDBA15-4F4C-698B-46E1-858A735B7587}"/>
              </a:ext>
            </a:extLst>
          </p:cNvPr>
          <p:cNvSpPr txBox="1"/>
          <p:nvPr/>
        </p:nvSpPr>
        <p:spPr>
          <a:xfrm>
            <a:off x="10262711" y="3685322"/>
            <a:ext cx="6059749" cy="2128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https://www.thecn.com/GS896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https://www.thecn.com/DA1139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https://www.thecn.com/SK2527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https://www.thecn.com/HW688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142F05-F37B-E171-0658-38D44EA64558}"/>
              </a:ext>
            </a:extLst>
          </p:cNvPr>
          <p:cNvSpPr txBox="1"/>
          <p:nvPr/>
        </p:nvSpPr>
        <p:spPr>
          <a:xfrm>
            <a:off x="1447800" y="7771950"/>
            <a:ext cx="13487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/>
              <a:t>💻 GitHub Repository - </a:t>
            </a:r>
            <a:r>
              <a:rPr lang="en-US" sz="4000" dirty="0" err="1">
                <a:hlinkClick r:id="rId10"/>
              </a:rPr>
              <a:t>cepdnaclk</a:t>
            </a:r>
            <a:r>
              <a:rPr lang="en-US" sz="4000" dirty="0">
                <a:hlinkClick r:id="rId10"/>
              </a:rPr>
              <a:t>/e22-co2060-bloodmsystem</a:t>
            </a:r>
            <a:endParaRPr lang="en-US" sz="4000" b="1" i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879294-EB3D-A10B-E102-19216A636B0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4948" t="7282" r="8489" b="18686"/>
          <a:stretch/>
        </p:blipFill>
        <p:spPr>
          <a:xfrm>
            <a:off x="7102379" y="3819059"/>
            <a:ext cx="2215525" cy="25933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039ACC-DBFA-AFB2-2AC4-39EAE3D98A3A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300" t="2255" r="8223"/>
          <a:stretch/>
        </p:blipFill>
        <p:spPr>
          <a:xfrm>
            <a:off x="2667894" y="3811247"/>
            <a:ext cx="2312549" cy="259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139645"/>
            <a:ext cx="11482787" cy="4563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1D684C"/>
                </a:solidFill>
                <a:latin typeface="Genty Sans"/>
                <a:ea typeface="Genty Sans"/>
                <a:cs typeface="Genty Sans"/>
                <a:sym typeface="Genty Sans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2416658" y="7791287"/>
            <a:ext cx="8609426" cy="4991426"/>
          </a:xfrm>
          <a:custGeom>
            <a:avLst/>
            <a:gdLst/>
            <a:ahLst/>
            <a:cxnLst/>
            <a:rect l="l" t="t" r="r" b="b"/>
            <a:pathLst>
              <a:path w="8609426" h="4991426">
                <a:moveTo>
                  <a:pt x="0" y="0"/>
                </a:moveTo>
                <a:lnTo>
                  <a:pt x="8609426" y="0"/>
                </a:lnTo>
                <a:lnTo>
                  <a:pt x="8609426" y="4991426"/>
                </a:lnTo>
                <a:lnTo>
                  <a:pt x="0" y="4991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68073" y="-2246725"/>
            <a:ext cx="4060446" cy="4493451"/>
          </a:xfrm>
          <a:custGeom>
            <a:avLst/>
            <a:gdLst/>
            <a:ahLst/>
            <a:cxnLst/>
            <a:rect l="l" t="t" r="r" b="b"/>
            <a:pathLst>
              <a:path w="4060446" h="4493451">
                <a:moveTo>
                  <a:pt x="0" y="0"/>
                </a:moveTo>
                <a:lnTo>
                  <a:pt x="4060446" y="0"/>
                </a:lnTo>
                <a:lnTo>
                  <a:pt x="4060446" y="4493450"/>
                </a:lnTo>
                <a:lnTo>
                  <a:pt x="0" y="4493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37339" y="-340661"/>
            <a:ext cx="4291962" cy="5976149"/>
          </a:xfrm>
          <a:custGeom>
            <a:avLst/>
            <a:gdLst/>
            <a:ahLst/>
            <a:cxnLst/>
            <a:rect l="l" t="t" r="r" b="b"/>
            <a:pathLst>
              <a:path w="4291962" h="5976149">
                <a:moveTo>
                  <a:pt x="0" y="0"/>
                </a:moveTo>
                <a:lnTo>
                  <a:pt x="4291962" y="0"/>
                </a:lnTo>
                <a:lnTo>
                  <a:pt x="4291962" y="5976149"/>
                </a:lnTo>
                <a:lnTo>
                  <a:pt x="0" y="59761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678236" y="6066620"/>
            <a:ext cx="4610990" cy="4610990"/>
          </a:xfrm>
          <a:custGeom>
            <a:avLst/>
            <a:gdLst/>
            <a:ahLst/>
            <a:cxnLst/>
            <a:rect l="l" t="t" r="r" b="b"/>
            <a:pathLst>
              <a:path w="4610990" h="4610990">
                <a:moveTo>
                  <a:pt x="0" y="0"/>
                </a:moveTo>
                <a:lnTo>
                  <a:pt x="4610991" y="0"/>
                </a:lnTo>
                <a:lnTo>
                  <a:pt x="4610991" y="4610990"/>
                </a:lnTo>
                <a:lnTo>
                  <a:pt x="0" y="46109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63800" y="-302561"/>
            <a:ext cx="4511427" cy="5313244"/>
          </a:xfrm>
          <a:custGeom>
            <a:avLst/>
            <a:gdLst/>
            <a:ahLst/>
            <a:cxnLst/>
            <a:rect l="l" t="t" r="r" b="b"/>
            <a:pathLst>
              <a:path w="4511427" h="5313244">
                <a:moveTo>
                  <a:pt x="0" y="0"/>
                </a:moveTo>
                <a:lnTo>
                  <a:pt x="4511427" y="0"/>
                </a:lnTo>
                <a:lnTo>
                  <a:pt x="4511427" y="5313243"/>
                </a:lnTo>
                <a:lnTo>
                  <a:pt x="0" y="5313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69669" y="8214941"/>
            <a:ext cx="4414699" cy="3531759"/>
          </a:xfrm>
          <a:custGeom>
            <a:avLst/>
            <a:gdLst/>
            <a:ahLst/>
            <a:cxnLst/>
            <a:rect l="l" t="t" r="r" b="b"/>
            <a:pathLst>
              <a:path w="4414699" h="3531759">
                <a:moveTo>
                  <a:pt x="0" y="0"/>
                </a:moveTo>
                <a:lnTo>
                  <a:pt x="4414699" y="0"/>
                </a:lnTo>
                <a:lnTo>
                  <a:pt x="4414699" y="3531760"/>
                </a:lnTo>
                <a:lnTo>
                  <a:pt x="0" y="35317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844364" y="6304374"/>
            <a:ext cx="4082058" cy="2953926"/>
          </a:xfrm>
          <a:custGeom>
            <a:avLst/>
            <a:gdLst/>
            <a:ahLst/>
            <a:cxnLst/>
            <a:rect l="l" t="t" r="r" b="b"/>
            <a:pathLst>
              <a:path w="4082058" h="2953926">
                <a:moveTo>
                  <a:pt x="0" y="0"/>
                </a:moveTo>
                <a:lnTo>
                  <a:pt x="4082058" y="0"/>
                </a:lnTo>
                <a:lnTo>
                  <a:pt x="4082058" y="2953926"/>
                </a:lnTo>
                <a:lnTo>
                  <a:pt x="0" y="29539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23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716</Words>
  <Application>Microsoft Office PowerPoint</Application>
  <PresentationFormat>Custom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Arimo</vt:lpstr>
      <vt:lpstr>Times New Roman MT Bold</vt:lpstr>
      <vt:lpstr>Times New Roman MT</vt:lpstr>
      <vt:lpstr>Genty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HOPEDROP</dc:title>
  <dc:creator>dulaj ashen</dc:creator>
  <cp:lastModifiedBy>sajithk391@gmail.com</cp:lastModifiedBy>
  <cp:revision>28</cp:revision>
  <dcterms:created xsi:type="dcterms:W3CDTF">2006-08-16T00:00:00Z</dcterms:created>
  <dcterms:modified xsi:type="dcterms:W3CDTF">2026-09-25T17:16:21Z</dcterms:modified>
  <dc:identifier>DAHIgsU9QbE</dc:identifier>
</cp:coreProperties>
</file>